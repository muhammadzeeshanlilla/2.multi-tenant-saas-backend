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502920"/>
            <a:ext cx="2103120" cy="2103120"/>
          </a:xfrm>
          <a:prstGeom prst="ellipse">
            <a:avLst/>
          </a:prstGeom>
          <a:solidFill>
            <a:srgbClr val="123B63">
              <a:alpha val="85000"/>
            </a:srgbClr>
          </a:solidFill>
          <a:ln w="12700">
            <a:solidFill>
              <a:srgbClr val="123B6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623560"/>
            <a:ext cx="4480560" cy="0"/>
          </a:xfrm>
          <a:prstGeom prst="line">
            <a:avLst/>
          </a:prstGeom>
          <a:noFill/>
          <a:ln w="25400">
            <a:solidFill>
              <a:srgbClr val="00A6A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630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TenantFlow Backend API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94944" y="224028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E5E2"/>
                </a:solidFill>
              </a:rPr>
              <a:t>Multi-Tenant SaaS Backend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04088" y="27797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EF6"/>
                </a:solidFill>
              </a:rPr>
              <a:t>Django REST Framework • PostgreSQL • JWT • Celery • Redis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401568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474720"/>
            <a:ext cx="1591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Competition Project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651760" y="340156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32B36B"/>
          </a:solidFill>
          <a:ln w="12700">
            <a:solidFill>
              <a:srgbClr val="32B3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3474720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Secure Tenant Isolation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892040" y="3401568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3474720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Role-Based APIs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092440" y="40233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F3D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Core Promise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39328" y="4645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7F3D0"/>
                </a:solidFill>
              </a:rPr>
              <a:t>Company A users can never access Company B data.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13232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Prepared for project demonstration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 Project Problem &amp;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1920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4EA"/>
                </a:solidFill>
              </a:rPr>
              <a:t>Why this backend exists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one system, many companies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</a:rPr>
              <a:t>The system must serve multiple companies without mixing their data.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4663440" cy="274320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40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</a:rPr>
              <a:t>Without tenant isolation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" y="274320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862072"/>
            <a:ext cx="13716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Company 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Users • Projects • Tasks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74320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862072"/>
            <a:ext cx="13716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Company B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Users • Projects • Tasks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97480" y="3182112"/>
            <a:ext cx="502920" cy="0"/>
          </a:xfrm>
          <a:prstGeom prst="line">
            <a:avLst/>
          </a:prstGeom>
          <a:noFill/>
          <a:ln w="27940">
            <a:solidFill>
              <a:srgbClr val="E11D4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00400" y="3419856"/>
            <a:ext cx="-502920" cy="0"/>
          </a:xfrm>
          <a:prstGeom prst="line">
            <a:avLst/>
          </a:prstGeom>
          <a:noFill/>
          <a:ln w="27940">
            <a:solidFill>
              <a:srgbClr val="E11D4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60704" y="3886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Risk: data leakage and security failure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20840" y="1965960"/>
            <a:ext cx="4663440" cy="2743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240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B36B"/>
                </a:solidFill>
              </a:rPr>
              <a:t>With TenantFlow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0" y="274320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2862072"/>
            <a:ext cx="12344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Company 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Only A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17152" y="274320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2862072"/>
            <a:ext cx="12344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Company B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Only B data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61120" y="2697480"/>
            <a:ext cx="0" cy="1143000"/>
          </a:xfrm>
          <a:prstGeom prst="line">
            <a:avLst/>
          </a:prstGeom>
          <a:noFill/>
          <a:ln w="38100">
            <a:solidFill>
              <a:srgbClr val="32B3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Safe: every query is filtered by company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5230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Project Goal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4B5563"/>
                </a:solidFill>
              </a:rPr>
              <a:t>Register companies and first admin</a:t>
            </a:r>
            <a:endParaRPr lang="en-US" sz="1150" dirty="0"/>
          </a:p>
          <a:p>
            <a:r>
              <a:rPr lang="en-US" sz="1150" dirty="0">
                <a:solidFill>
                  <a:srgbClr val="4B5563"/>
                </a:solidFill>
              </a:rPr>
              <a:t>Manage users, projects and tasks by role</a:t>
            </a:r>
            <a:endParaRPr lang="en-US" sz="1150" dirty="0"/>
          </a:p>
          <a:p>
            <a:r>
              <a:rPr lang="en-US" sz="1150" dirty="0">
                <a:solidFill>
                  <a:srgbClr val="4B5563"/>
                </a:solidFill>
              </a:rPr>
              <a:t>Track actions with audit logs</a:t>
            </a:r>
            <a:endParaRPr lang="en-US" sz="1150" dirty="0"/>
          </a:p>
          <a:p>
            <a:r>
              <a:rPr lang="en-US" sz="1150" dirty="0">
                <a:solidFill>
                  <a:srgbClr val="4B5563"/>
                </a:solidFill>
              </a:rPr>
              <a:t>Protect APIs with JWT, permissions, rate limiting and soft delete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TenantFlow Backend API  |  2/10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6510528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Multi-Tenant SaaS • Django REST Framework • PostgreSQL • JWT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 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1920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4EA"/>
                </a:solidFill>
              </a:rPr>
              <a:t>How the project works end-to-end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flow from client to database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</a:rPr>
              <a:t>Every protected request passes through authentication, authorization and tenant filtering.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39112"/>
            <a:ext cx="13716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Postman / Swagger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Client Request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2286000"/>
            <a:ext cx="50292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34640" y="19202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039112"/>
            <a:ext cx="13716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Django REST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Framework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2286000"/>
            <a:ext cx="50292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83480" y="192024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039112"/>
            <a:ext cx="1143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JWT Auth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Identify user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286000"/>
            <a:ext cx="50292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9202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039112"/>
            <a:ext cx="1554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Role Check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Admin/Manager/Employee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32520" y="2286000"/>
            <a:ext cx="50292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35440" y="19202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039112"/>
            <a:ext cx="1737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Tenant Filter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request.user.company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241280" y="2651760"/>
            <a:ext cx="0" cy="59436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23960" y="324612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3364992"/>
            <a:ext cx="25146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PostgreSQL Database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Company-separated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4160520"/>
            <a:ext cx="5943600" cy="0"/>
          </a:xfrm>
          <a:prstGeom prst="line">
            <a:avLst/>
          </a:prstGeom>
          <a:noFill/>
          <a:ln w="16510">
            <a:solidFill>
              <a:srgbClr val="D6E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72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Supporting services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5800" y="498348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⚙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44168" y="5102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Celery Worker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344168" y="5422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Sends email notifications in background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06240" y="4983480"/>
            <a:ext cx="530352" cy="5303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15968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64608" y="5102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Redis Broker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64608" y="54223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Holds email jobs until Celery processes them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01000" y="4983480"/>
            <a:ext cx="530352" cy="530352"/>
          </a:xfrm>
          <a:prstGeom prst="ellipse">
            <a:avLst/>
          </a:prstGeom>
          <a:solidFill>
            <a:srgbClr val="32B36B"/>
          </a:solidFill>
          <a:ln w="12700">
            <a:solidFill>
              <a:srgbClr val="32B3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0728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✉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659368" y="5102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SMTP Email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659368" y="54223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Real notifications for project/task assignments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TenantFlow Backend API  |  3/10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6510528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Multi-Tenant SaaS • Django REST Framework • PostgreSQL • JWT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 Database ERD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1920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4EA"/>
                </a:solidFill>
              </a:rPr>
              <a:t>Tables and relationships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 for secure multi-tenancy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</a:rPr>
              <a:t>Every important table links to Company, so data can be filtered by tenant.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5973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Company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743200" y="182880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0482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User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743200" y="274320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32B36B"/>
          </a:solidFill>
          <a:ln w="12700">
            <a:solidFill>
              <a:srgbClr val="32B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9626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Project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212080" y="224028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45973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ProjectMember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6720" y="274320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9626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Task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0482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AuditLog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49808" y="3886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Relationship table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4206240"/>
            <a:ext cx="1069848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D1D5DB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7024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Relationship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474720" y="427024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Type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937760" y="4270248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Meaning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77240" y="4462272"/>
            <a:ext cx="10698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526280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Company → Users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3474720" y="452628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1 : Many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937760" y="4526280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One company has many users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77240" y="4690872"/>
            <a:ext cx="10698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754880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Project ↔ Users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3474720" y="475488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Many : Many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937760" y="4754880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Handled through ProjectMember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77240" y="4919472"/>
            <a:ext cx="10698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983480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Project → Tasks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3474720" y="498348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1 : Many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4937760" y="4983480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One project contains many tasks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777240" y="5148072"/>
            <a:ext cx="10698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212080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User → Assigned Tasks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3474720" y="521208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1 : Many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4937760" y="5212080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One user can have many assigned tasks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77240" y="5376672"/>
            <a:ext cx="10698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440680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Company → AuditLog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3474720" y="544068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1 : Many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4937760" y="5440680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</a:rPr>
              <a:t>Each company has its own activity history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TenantFlow Backend API  |  4/10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6510528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Multi-Tenant SaaS • Django REST Framework • PostgreSQL • JWT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 Database Tables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1920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4EA"/>
                </a:solidFill>
              </a:rPr>
              <a:t>What each table stores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data model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</a:rPr>
              <a:t>These tables support company registration, user roles, projects, tasks and audit trail.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0744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84248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Table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423160" y="1984248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Purpose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440680" y="1984248"/>
            <a:ext cx="5577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Key fields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31520" y="2221992"/>
            <a:ext cx="10744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31720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Company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423160" y="2331720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Tenant / business account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40680" y="2331720"/>
            <a:ext cx="5577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id, name, slug, email, is_active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31520" y="2606040"/>
            <a:ext cx="10744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15768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User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2423160" y="2715768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Admin, Manager, Employee users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440680" y="2715768"/>
            <a:ext cx="5577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company, username, email, role, is_deleted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1520" y="2990088"/>
            <a:ext cx="10744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099816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Project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423160" y="3099816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Company work container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5440680" y="3099816"/>
            <a:ext cx="5577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company, name, status, start/end date, created_by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31520" y="3374136"/>
            <a:ext cx="10744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483864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ProjectMember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2423160" y="3483864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Project user assignment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440680" y="3483864"/>
            <a:ext cx="5577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company, project, user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31520" y="3758184"/>
            <a:ext cx="10744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867912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Task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2423160" y="3867912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Work item under a project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440680" y="3867912"/>
            <a:ext cx="5577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company, project, assigned_to, status, priority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31520" y="4142232"/>
            <a:ext cx="10744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251960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AuditLog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2423160" y="4251960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System activity history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5440680" y="4251960"/>
            <a:ext cx="5577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company, user, action, object_type, ip_address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777240" y="5074920"/>
            <a:ext cx="10652760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28523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Design choice: company_id is stored directly in User, Project, ProjectMember, Task and AuditLog to make tenant filtering fast and safe.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TenantFlow Backend API  |  5/10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6510528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Multi-Tenant SaaS • Django REST Framework • PostgreSQL • JWT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 Authentication &amp; Roles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1920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4EA"/>
                </a:solidFill>
              </a:rPr>
              <a:t>Who can do what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JWT identity + role-based permissions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</a:rPr>
              <a:t>Login returns access and refresh tokens. Every protected API checks the token and user role.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JWT flow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59152"/>
            <a:ext cx="1280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Email + Password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31720" y="2523744"/>
            <a:ext cx="640080" cy="0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24028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359152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Login API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2523744"/>
            <a:ext cx="640080" cy="0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92040" y="2121408"/>
            <a:ext cx="1645920" cy="804672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240280"/>
            <a:ext cx="13716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F3A"/>
                </a:solidFill>
              </a:rPr>
              <a:t>Access Token</a:t>
            </a:r>
            <a:endParaRPr lang="en-US" sz="1120" dirty="0"/>
          </a:p>
          <a:p>
            <a:pPr indent="0" marL="0">
              <a:buNone/>
            </a:pPr>
            <a:r>
              <a:rPr lang="en-US" sz="1120" b="1" dirty="0">
                <a:solidFill>
                  <a:srgbClr val="0B1F3A"/>
                </a:solidFill>
              </a:rPr>
              <a:t>Refresh Token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537960" y="2523744"/>
            <a:ext cx="640080" cy="0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78040" y="224028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359152"/>
            <a:ext cx="1280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Protected APIs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32520" y="2523744"/>
            <a:ext cx="640080" cy="0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72600" y="2121408"/>
            <a:ext cx="1737360" cy="804672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2240280"/>
            <a:ext cx="14630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F3A"/>
                </a:solidFill>
              </a:rPr>
              <a:t>Role + Company</a:t>
            </a:r>
            <a:endParaRPr lang="en-US" sz="1120" dirty="0"/>
          </a:p>
          <a:p>
            <a:pPr indent="0" marL="0">
              <a:buNone/>
            </a:pPr>
            <a:r>
              <a:rPr lang="en-US" sz="1120" b="1" dirty="0">
                <a:solidFill>
                  <a:srgbClr val="0B1F3A"/>
                </a:solidFill>
              </a:rPr>
              <a:t>checked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Role permissions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7240" y="4133088"/>
            <a:ext cx="1065276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224528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Role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331720" y="4224528"/>
            <a:ext cx="8778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Allowed actions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77240" y="4453128"/>
            <a:ext cx="10652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544568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</a:rPr>
              <a:t>ADMIN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2331720" y="4544568"/>
            <a:ext cx="8778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</a:rPr>
              <a:t>Create users, manage projects/tasks, assign users, view audit logs, restore deleted data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77240" y="4764024"/>
            <a:ext cx="10652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855464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</a:rPr>
              <a:t>MANAGER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2331720" y="4855464"/>
            <a:ext cx="8778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</a:rPr>
              <a:t>Create/update projects and tasks, assign users/tasks inside own company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77240" y="5074920"/>
            <a:ext cx="10652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16636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</a:rPr>
              <a:t>EMPLOYEE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2331720" y="5166360"/>
            <a:ext cx="8778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</a:rPr>
              <a:t>View assigned projects/tasks and update own task status only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TenantFlow Backend API  |  6/10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6510528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Multi-Tenant SaaS • Django REST Framework • PostgreSQL • JWT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 Tenant Isolation + Soft Delete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1920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4EA"/>
                </a:solidFill>
              </a:rPr>
              <a:t>Security rules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is built into every query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</a:rPr>
              <a:t>The frontend never sends company_id. The backend gets the company from the logged-in token.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Tenant isolation rule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4800600" cy="1005840"/>
          </a:xfrm>
          <a:prstGeom prst="roundRect">
            <a:avLst>
              <a:gd name="adj" fmla="val 727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8716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Project.objects.filter(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company=request.user.company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Company A token → only Company A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58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Company B token → only Company B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24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</a:rPr>
              <a:t>If Company B requests Company A ID → 404 Not Found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Soft delete rule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2240280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DELETE request does not remove data forever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23960" y="2816352"/>
            <a:ext cx="0" cy="493776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3310128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is_deleted = True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23960" y="3886200"/>
            <a:ext cx="0" cy="484632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0" y="4370832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4489704"/>
            <a:ext cx="4206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Normal APIs return only is_deleted = False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01968" y="5230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Benefit: safer recovery, auditability and less accidental data loss.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TenantFlow Backend API  |  7/10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6510528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Multi-Tenant SaaS • Django REST Framework • PostgreSQL • JWT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  Business Workflow + Audit Logs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1920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4EA"/>
                </a:solidFill>
              </a:rPr>
              <a:t>What users do in the system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company registration to task completion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</a:rPr>
              <a:t>The platform records important actions to make the system traceable.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960120" cy="9601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Company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Register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20240" y="2743200"/>
            <a:ext cx="45720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2377440"/>
            <a:ext cx="960120" cy="96012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4056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3520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Admin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Creates Users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03320" y="2743200"/>
            <a:ext cx="45720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60520" y="2377440"/>
            <a:ext cx="960120" cy="960120"/>
          </a:xfrm>
          <a:prstGeom prst="ellipse">
            <a:avLst/>
          </a:prstGeom>
          <a:solidFill>
            <a:srgbClr val="32B36B"/>
          </a:solidFill>
          <a:ln w="12700">
            <a:solidFill>
              <a:srgbClr val="32B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69080" y="3520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Create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Project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0" y="2743200"/>
            <a:ext cx="45720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2377440"/>
            <a:ext cx="960120" cy="9601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52160" y="3520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Assign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Members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69480" y="2743200"/>
            <a:ext cx="45720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26680" y="2377440"/>
            <a:ext cx="960120" cy="9601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83296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35240" y="3520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Create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Task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2743200"/>
            <a:ext cx="45720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09760" y="2377440"/>
            <a:ext cx="960120" cy="9601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66376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0" y="3520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Employee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Updates Status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4617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Audit actions captured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68680" y="4983480"/>
            <a:ext cx="107899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60" dirty="0">
                <a:solidFill>
                  <a:srgbClr val="4B5563"/>
                </a:solidFill>
              </a:rPr>
              <a:t>USER_LOGIN, USER_CREATED, USER_UPDATED, USER_DELETED, USER_RESTORED</a:t>
            </a:r>
            <a:endParaRPr lang="en-US" sz="1060" dirty="0"/>
          </a:p>
          <a:p>
            <a:r>
              <a:rPr lang="en-US" sz="1060" dirty="0">
                <a:solidFill>
                  <a:srgbClr val="4B5563"/>
                </a:solidFill>
              </a:rPr>
              <a:t>PROJECT_CREATED, PROJECT_UPDATED, PROJECT_DELETED, PROJECT_RESTORED, PROJECT_USERS_ASSIGNED</a:t>
            </a:r>
            <a:endParaRPr lang="en-US" sz="1060" dirty="0"/>
          </a:p>
          <a:p>
            <a:r>
              <a:rPr lang="en-US" sz="1060" dirty="0">
                <a:solidFill>
                  <a:srgbClr val="4B5563"/>
                </a:solidFill>
              </a:rPr>
              <a:t>TASK_CREATED, TASK_UPDATED, TASK_DELETED, TASK_RESTORED, TASK_STATUS_CHANGED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TenantFlow Backend API  |  8/10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6510528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Multi-Tenant SaaS • Django REST Framework • PostgreSQL • JWT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  Celery + Redis Email Notifications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1920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4EA"/>
                </a:solidFill>
              </a:rPr>
              <a:t>Background jobs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Emails are sent asynchronously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</a:rPr>
              <a:t>The API stays fast because email sending happens in the background.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30552"/>
            <a:ext cx="1737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Admin / Manager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assigns project or task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395728"/>
            <a:ext cx="64008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37560" y="201168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130552"/>
            <a:ext cx="1737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Django API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saves data + audit log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2395728"/>
            <a:ext cx="64008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89320" y="20116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130552"/>
            <a:ext cx="14630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Redis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holds email job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26680" y="2395728"/>
            <a:ext cx="64008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66760" y="20116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130552"/>
            <a:ext cx="16916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Celery Worker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sends SMTP email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0" y="2788920"/>
            <a:ext cx="0" cy="54864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66760" y="333756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5F3FF"/>
          </a:solidFill>
          <a:ln w="12700">
            <a:solidFill>
              <a:srgbClr val="D6E4EA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456432"/>
            <a:ext cx="16916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Manager / Employee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receives notification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709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Why this design?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8680" y="5047488"/>
            <a:ext cx="10241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80" dirty="0">
                <a:solidFill>
                  <a:srgbClr val="4B5563"/>
                </a:solidFill>
              </a:rPr>
              <a:t>Redis = message broker that stores background jobs temporarily</a:t>
            </a:r>
            <a:endParaRPr lang="en-US" sz="1180" dirty="0"/>
          </a:p>
          <a:p>
            <a:r>
              <a:rPr lang="en-US" sz="1180" dirty="0">
                <a:solidFill>
                  <a:srgbClr val="4B5563"/>
                </a:solidFill>
              </a:rPr>
              <a:t>Celery = background worker that processes slow jobs outside the API request</a:t>
            </a:r>
            <a:endParaRPr lang="en-US" sz="1180" dirty="0"/>
          </a:p>
          <a:p>
            <a:r>
              <a:rPr lang="en-US" sz="1180" dirty="0">
                <a:solidFill>
                  <a:srgbClr val="4B5563"/>
                </a:solidFill>
              </a:rPr>
              <a:t>SMTP Gmail App Password = real email sender for project/task notifications</a:t>
            </a:r>
            <a:endParaRPr lang="en-US" sz="1180" dirty="0"/>
          </a:p>
          <a:p>
            <a:r>
              <a:rPr lang="en-US" sz="1180" dirty="0">
                <a:solidFill>
                  <a:srgbClr val="4B5563"/>
                </a:solidFill>
              </a:rPr>
              <a:t>One system email is used; the email body shows who assigned the work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TenantFlow Backend API  |  9/10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6510528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Multi-Tenant SaaS • Django REST Framework • PostgreSQL • JWT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  Final Deliverables &amp; Competition Value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21040" y="1920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4EA"/>
                </a:solidFill>
              </a:rPr>
              <a:t>What has been completed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complete competition-ready SaaS backend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</a:rPr>
              <a:t>The project demonstrates real-world backend engineering, security and documentation.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0835640" cy="283464"/>
          </a:xfrm>
          <a:prstGeom prst="rect">
            <a:avLst/>
          </a:prstGeom>
          <a:solidFill>
            <a:srgbClr val="0B1F3A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11096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Deliverable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3566160" y="191109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Status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572000" y="1911096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Value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85800" y="2112264"/>
            <a:ext cx="10835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94560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Django + DRF APIs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2B36B"/>
                </a:solidFill>
              </a:rPr>
              <a:t>Done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572000" y="2194560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Clean REST backend for SaaS workflow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85800" y="2414016"/>
            <a:ext cx="10835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496312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PostgreSQL database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566160" y="249631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2B36B"/>
                </a:solidFill>
              </a:rPr>
              <a:t>Done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572000" y="2496312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Professional relational data model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85800" y="2715768"/>
            <a:ext cx="10835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798064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JWT + roles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566160" y="279806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2B36B"/>
                </a:solidFill>
              </a:rPr>
              <a:t>Done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572000" y="2798064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Secure access control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85800" y="3017520"/>
            <a:ext cx="10835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099816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Tenant isolation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566160" y="309981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2B36B"/>
                </a:solidFill>
              </a:rPr>
              <a:t>Done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572000" y="3099816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Company data remains separated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85800" y="3319272"/>
            <a:ext cx="10835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401568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Soft delete + restore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3566160" y="340156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2B36B"/>
                </a:solidFill>
              </a:rPr>
              <a:t>Done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572000" y="3401568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Safe recovery of deleted data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85800" y="3621024"/>
            <a:ext cx="10835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703320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Audit logs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566160" y="37033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2B36B"/>
                </a:solidFill>
              </a:rPr>
              <a:t>Done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572000" y="3703320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Traceability for important actions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85800" y="3922776"/>
            <a:ext cx="10835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005072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Rate limiting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566160" y="400507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2B36B"/>
                </a:solidFill>
              </a:rPr>
              <a:t>Done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572000" y="4005072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Protection from brute force and abuse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85800" y="4224528"/>
            <a:ext cx="10835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306824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Celery + Redis emails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3566160" y="430682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2B36B"/>
                </a:solidFill>
              </a:rPr>
              <a:t>Done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4572000" y="4306824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Background notifications with real SMTP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685800" y="4526280"/>
            <a:ext cx="10835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4608576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Swagger + Postman + ERD + README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3566160" y="460857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2B36B"/>
                </a:solidFill>
              </a:rPr>
              <a:t>Done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4572000" y="4608576"/>
            <a:ext cx="6583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Clear testing and documentation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85800" y="562356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5751576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Final message: TenantFlow is not just CRUD; it is a secure, multi-tenant SaaS backend with professional architecture and testing.</a:t>
            </a:r>
            <a:endParaRPr lang="en-US" sz="1220" dirty="0"/>
          </a:p>
        </p:txBody>
      </p:sp>
      <p:sp>
        <p:nvSpPr>
          <p:cNvPr id="49" name="Text 47"/>
          <p:cNvSpPr/>
          <p:nvPr/>
        </p:nvSpPr>
        <p:spPr>
          <a:xfrm>
            <a:off x="50292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TenantFlow Backend API  |  10/10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6510528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Multi-Tenant SaaS • Django REST Framework • PostgreSQL • JWT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TenantFlow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TenantFlow Backend API - Competition Presentation</dc:title>
  <dc:subject>TenantFlow Multi-Tenant SaaS Backend</dc:subject>
  <dc:creator>Muhammad Zeeshan / Muhammad Adrees</dc:creator>
  <cp:lastModifiedBy>Muhammad Zeeshan / Muhammad Adrees</cp:lastModifiedBy>
  <cp:revision>1</cp:revision>
  <dcterms:created xsi:type="dcterms:W3CDTF">2026-06-01T07:43:37Z</dcterms:created>
  <dcterms:modified xsi:type="dcterms:W3CDTF">2026-06-01T07:43:37Z</dcterms:modified>
</cp:coreProperties>
</file>